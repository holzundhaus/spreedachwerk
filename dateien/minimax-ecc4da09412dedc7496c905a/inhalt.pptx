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spreedachwerk/-/blob/2e47d8940ae73a3b7c23afc8aa87dd5b29e995bc/_posts/2026-10-22-dachbegruenung-berliner-dach-voraussetzungen-aufbau-pflege.md" TargetMode="External"/><Relationship Id="rId3" Type="http://schemas.openxmlformats.org/officeDocument/2006/relationships/hyperlink" Target="https://holzundhaus.github.io/spreedachwerk/dateien/minimax-ecc4da09412dedc7496c905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Dachbegrünung auf Berliner Dächern: Voraussetzungen, Aufbau und Pflege · Erklärende Präsentation</a:t>
            </a:r>
          </a:p>
        </p:txBody>
      </p:sp>
      <p:sp>
        <p:nvSpPr>
          <p:cNvPr id="3" name="Content Placeholder 2"/>
          <p:cNvSpPr>
            <a:spLocks noGrp="1"/>
          </p:cNvSpPr>
          <p:nvPr>
            <p:ph idx="1"/>
          </p:nvPr>
        </p:nvSpPr>
        <p:spPr/>
        <p:txBody>
          <a:bodyPr/>
          <a:lstStyle/>
          <a:p>
            <a:r>
              <a:t>Überblick: Eine Dachbegrünung ist mehr als die Entscheidung für eine bestimmte Pflanzenart. Auf Berliner Dächern hängt ihre Machbarkeit vom vorhandenen Dachaufbau, der zusätzlichen Last, der Entwässerung und den geplanten Nutzungszielen ab. Besonders bei Bestandsgebäuden sollte deshalb vor der Begrünung geklärt werden, ob eine statische Prüfung und eine Anpassung der Dachplanung erforderlich sind. Wer eine Begrünung mit einer ohnehin anstehenden Dachsanierung verbindet, kann Schnittstellen frühzeitig berücksichtigen und spätere Abstimmungen vermeiden.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und Dachzustand vorab prüfen</a:t>
            </a:r>
          </a:p>
        </p:txBody>
      </p:sp>
      <p:sp>
        <p:nvSpPr>
          <p:cNvPr id="3" name="Content Placeholder 2"/>
          <p:cNvSpPr>
            <a:spLocks noGrp="1"/>
          </p:cNvSpPr>
          <p:nvPr>
            <p:ph idx="1"/>
          </p:nvPr>
        </p:nvSpPr>
        <p:spPr/>
        <p:txBody>
          <a:bodyPr/>
          <a:lstStyle/>
          <a:p>
            <a:pPr>
              <a:defRPr sz="1800"/>
            </a:pPr>
            <a:r>
              <a:t>Der wichtigste erste Schritt ist die Eignungsprüfung des Daches. Eine Begrünung belastet die Konstruktion durch Substrat, Bepflanzung und gespeichertes Wasser. Bei älteren Gebäuden ist eine fachgerechte statische Prüfung durch einen Ingenieur erforderlich, bevor der Aufbau festgelegt wird. Das Ergebnis beeinflusst, welche Begrünungsart möglich ist und wie hoch der Aufbau ausfallen darf. Gleichzeitig sollten der Zustand der Dachflächen, der Dichtung und der vorhandenen Anschlüsse betrachtet werden. Ein intakter Unterbau allein genügt nicht, wenn Anschlüsse, Durchdringungen oder Ränder später nicht mehr zugänglich sind.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Extensiv oder intensiv begrünen</a:t>
            </a:r>
          </a:p>
        </p:txBody>
      </p:sp>
      <p:sp>
        <p:nvSpPr>
          <p:cNvPr id="3" name="Content Placeholder 2"/>
          <p:cNvSpPr>
            <a:spLocks noGrp="1"/>
          </p:cNvSpPr>
          <p:nvPr>
            <p:ph idx="1"/>
          </p:nvPr>
        </p:nvSpPr>
        <p:spPr/>
        <p:txBody>
          <a:bodyPr/>
          <a:lstStyle/>
          <a:p>
            <a:pPr>
              <a:defRPr sz="1800"/>
            </a:pPr>
            <a:r>
              <a:t>Extensivbegrünungen sind leichter und für Dächer mit eingeschränkter Tragfähigkeit eher geeignet. Sie kommen mit geringerer Substratstärke aus und werden typischerweise mit Moosen, Sedum und Sukkulenten bepflanzt. Ihr Pflegeaufwand ist gering, aber Kontrollen bleiben trotzdem nötig. Bei einer Intensivbegrünung sind die Anforderungen deutlich höher: höheres Substratvolumen, mehr Tragreserven und ein Pflegeaufwand, der eher einer Gartenanlage entspricht. Sie kann Gehölze, Stauden und sogar Bäume ermöglichen. Welche Variante passt, sollte nicht allein nach dem gewünschten Erscheinungsbild ausgewählt werden, sondern auch im Zusammenhang mit Tragf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Extensiv oder intensiv begrünen</a:t>
            </a:r>
          </a:p>
        </p:txBody>
      </p:sp>
      <p:sp>
        <p:nvSpPr>
          <p:cNvPr id="3" name="Content Placeholder 2"/>
          <p:cNvSpPr>
            <a:spLocks noGrp="1"/>
          </p:cNvSpPr>
          <p:nvPr>
            <p:ph idx="1"/>
          </p:nvPr>
        </p:nvSpPr>
        <p:spPr/>
        <p:txBody>
          <a:bodyPr/>
          <a:lstStyle/>
          <a:p>
            <a:pPr>
              <a:defRPr sz="1800"/>
            </a:pPr>
            <a:r>
              <a:t>ähigkeit, Nutzung und Pflegebudget stehen.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mehrschichtigen Aufbau verstehen</a:t>
            </a:r>
          </a:p>
        </p:txBody>
      </p:sp>
      <p:sp>
        <p:nvSpPr>
          <p:cNvPr id="3" name="Content Placeholder 2"/>
          <p:cNvSpPr>
            <a:spLocks noGrp="1"/>
          </p:cNvSpPr>
          <p:nvPr>
            <p:ph idx="1"/>
          </p:nvPr>
        </p:nvSpPr>
        <p:spPr/>
        <p:txBody>
          <a:bodyPr/>
          <a:lstStyle/>
          <a:p>
            <a:pPr>
              <a:defRPr sz="1800"/>
            </a:pPr>
            <a:r>
              <a:t>Eine funktionierende Dachbegrünung besteht aus mehreren aufeinander abgestimmten Schichten. Eine Wurzelschutzbahn verhindert, dass Pflanzen die Dichtschicht durchdringen. Darunter folgt eine Drainageschicht, die überschüssiges Wasser abführt und einen Teil für trockene Perioden speichert. Eine Filterschicht hält Feinbestandteile zurück, damit sie nicht ausgeschwemmt werden. Das Substrat bildet anschließend das Wachstumsmedium, und die Bepflanzung wird entsprechend der Begrünungsart sowie den Standortbedingungen ausgewählt. Jede Schicht erfüllt eine eigene Aufgabe. Deshalb sollten bei der Planung nicht nur Pflanzen und Substrat betrachtet werd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mehrschichtigen Aufbau verstehen</a:t>
            </a:r>
          </a:p>
        </p:txBody>
      </p:sp>
      <p:sp>
        <p:nvSpPr>
          <p:cNvPr id="3" name="Content Placeholder 2"/>
          <p:cNvSpPr>
            <a:spLocks noGrp="1"/>
          </p:cNvSpPr>
          <p:nvPr>
            <p:ph idx="1"/>
          </p:nvPr>
        </p:nvSpPr>
        <p:spPr/>
        <p:txBody>
          <a:bodyPr/>
          <a:lstStyle/>
          <a:p>
            <a:pPr>
              <a:defRPr sz="1800"/>
            </a:pPr>
            <a:r>
              <a:t>en, sondern auch das Zusammenspiel von Schutz, Entwässerung und Wasserhaltung.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Entwässerung verändert sich mit der Begrünung</a:t>
            </a:r>
          </a:p>
        </p:txBody>
      </p:sp>
      <p:sp>
        <p:nvSpPr>
          <p:cNvPr id="3" name="Content Placeholder 2"/>
          <p:cNvSpPr>
            <a:spLocks noGrp="1"/>
          </p:cNvSpPr>
          <p:nvPr>
            <p:ph idx="1"/>
          </p:nvPr>
        </p:nvSpPr>
        <p:spPr/>
        <p:txBody>
          <a:bodyPr/>
          <a:lstStyle/>
          <a:p>
            <a:pPr>
              <a:defRPr sz="1800"/>
            </a:pPr>
            <a:r>
              <a:t>Mit der Begrünung verändert sich das Verhalten des Regenwassers. Ein Teil wird im Aufbau gespeichert, ein Teil verdunstet, und nicht alles kann über die Dachfläche abfließen. Die vorhandene Entwässerung muss deshalb weiterhin funktionsfähig bleiben. Vor der Planung sollte der Zustand der Entwässerungseinrichtungen begutachtet und gegebenenfalls angepasst werden. Das betrifft sowohl Abläufe als auch Anschlüsse, Ränder und Durchdringungen. Bei einer Intensivbegrünung ist dieser Punkt besonders wichtig, weil der höhere Aufbau mehr Wasser aufnimmt und die Gestaltung des gesamten Wasserhaushalts beeinflusst.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Sanierung miteinander verbinden</a:t>
            </a:r>
          </a:p>
        </p:txBody>
      </p:sp>
      <p:sp>
        <p:nvSpPr>
          <p:cNvPr id="3" name="Content Placeholder 2"/>
          <p:cNvSpPr>
            <a:spLocks noGrp="1"/>
          </p:cNvSpPr>
          <p:nvPr>
            <p:ph idx="1"/>
          </p:nvPr>
        </p:nvSpPr>
        <p:spPr/>
        <p:txBody>
          <a:bodyPr/>
          <a:lstStyle/>
          <a:p>
            <a:pPr>
              <a:defRPr sz="1800"/>
            </a:pPr>
            <a:r>
              <a:t>Auch eine pflegeleichte Extensivbegrünung verlangt regelmäßige Aufmerksamkeit. Zu den Kontrollen gehören die Durchwurzelung, der Wasserabfluss sowie die Anschlüsse an Durchdringungen und Rändern. Unerwünschter Bewuchs, etwa Gehölzsämlinge, sollte entfernt werden. Bei längeren Trockenperioden kann eine Bewässerung erforderlich sein. Steht bereits eine Dachsanierung an, empfiehlt es sich, die Begrünung in dieselbe Planung aufzunehmen. So können Dämmung, Anschlüsse und Entwässerung von Anfang an gemeinsam betrachtet werden. Für eine belastbare Einschätzung ist eine Vor-Ort-Beratung sinnvoll, bei der Dachzustand, Tragfähigkeit, Begrünungsart und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Sanierung miteinander verbinden</a:t>
            </a:r>
          </a:p>
        </p:txBody>
      </p:sp>
      <p:sp>
        <p:nvSpPr>
          <p:cNvPr id="3" name="Content Placeholder 2"/>
          <p:cNvSpPr>
            <a:spLocks noGrp="1"/>
          </p:cNvSpPr>
          <p:nvPr>
            <p:ph idx="1"/>
          </p:nvPr>
        </p:nvSpPr>
        <p:spPr/>
        <p:txBody>
          <a:bodyPr/>
          <a:lstStyle/>
          <a:p>
            <a:pPr>
              <a:defRPr sz="1800"/>
            </a:pPr>
            <a:r>
              <a:t>Nutzungsabsichten miteinander abgestimmt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Dachbegrünung auf Berliner Dächern: Voraussetzungen, Aufbau und Pflege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