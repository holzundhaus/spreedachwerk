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dachwerk/dachstuhl-pruefen-holzbauteile-und-schaeden/" TargetMode="External"/><Relationship Id="rId3" Type="http://schemas.openxmlformats.org/officeDocument/2006/relationships/hyperlink" Target="https://holzundhaus.github.io/spreedachwerk/dateien/minimax-cd737b17de5505dde934ce5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 prüfen: Holzbauteile erkennen und Schadensbilder einordnen · Erklärende Präsentation</a:t>
            </a:r>
          </a:p>
        </p:txBody>
      </p:sp>
      <p:sp>
        <p:nvSpPr>
          <p:cNvPr id="3" name="Content Placeholder 2"/>
          <p:cNvSpPr>
            <a:spLocks noGrp="1"/>
          </p:cNvSpPr>
          <p:nvPr>
            <p:ph idx="1"/>
          </p:nvPr>
        </p:nvSpPr>
        <p:spPr/>
        <p:txBody>
          <a:bodyPr/>
          <a:lstStyle/>
          <a:p>
            <a:r>
              <a:t>Überblick: Ein Dachstuhl ist die tragende Holzkonstruktion eines Daches und zugleich eine wichtige Grundlage für Sanierung, Dämmung und Ausbau. Für Eigentümerinnen und Eigentümer ist es hilfreich, die wichtigsten Bauteile zu kennen und typische Schäden richtig einordnen zu können. Der folgende Leitfaden erklärt, worauf bei der Prüfung zu achten ist und wann eine fachliche Vor-Ort-Untersuchung sinnvoll wird.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tragenden Holzbauteile kennen</a:t>
            </a:r>
          </a:p>
        </p:txBody>
      </p:sp>
      <p:sp>
        <p:nvSpPr>
          <p:cNvPr id="3" name="Content Placeholder 2"/>
          <p:cNvSpPr>
            <a:spLocks noGrp="1"/>
          </p:cNvSpPr>
          <p:nvPr>
            <p:ph idx="1"/>
          </p:nvPr>
        </p:nvSpPr>
        <p:spPr/>
        <p:txBody>
          <a:bodyPr/>
          <a:lstStyle/>
          <a:p>
            <a:pPr>
              <a:defRPr sz="1800"/>
            </a:pPr>
            <a:r>
              <a:t>Sparren verlaufen geneigt von der Traufe zum First. Sie tragen die Dachlatten und die Eindeckung, bestimmen die Dachneigung und übertragen Lasten auf Pfetten und Außenwände. Pfetten fassen mehrere Sparren zusammen: Die Firstpfette bildet den oberen Abschluss, während Mittelpfetten im Dachflächenverlauf liegen und Fußpfetten den unteren Abschluss bilden. Drempel beziehungsweise Kniestöcke erhöhen die Wand im Bereich der Fußpfetten und beeinflussen die nutzbare Raumhöhe im Dachgeschoss. Hinzu kommen Zangen, Kehlbalken, Streben, Stützen und Kopfbänder. Diese Teile stabilisieren die Konstruktion. Wer die Funktion der Bauteile kennt, kann sichtbar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tragenden Holzbauteile kennen</a:t>
            </a:r>
          </a:p>
        </p:txBody>
      </p:sp>
      <p:sp>
        <p:nvSpPr>
          <p:cNvPr id="3" name="Content Placeholder 2"/>
          <p:cNvSpPr>
            <a:spLocks noGrp="1"/>
          </p:cNvSpPr>
          <p:nvPr>
            <p:ph idx="1"/>
          </p:nvPr>
        </p:nvSpPr>
        <p:spPr/>
        <p:txBody>
          <a:bodyPr/>
          <a:lstStyle/>
          <a:p>
            <a:pPr>
              <a:defRPr sz="1800"/>
            </a:pPr>
            <a:r>
              <a:t>e Schäden genauer beschreiben und besser von einer bloßen optischen Auffälligkeit unterscheiden.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Schäden und ihre Hinweise</a:t>
            </a:r>
          </a:p>
        </p:txBody>
      </p:sp>
      <p:sp>
        <p:nvSpPr>
          <p:cNvPr id="3" name="Content Placeholder 2"/>
          <p:cNvSpPr>
            <a:spLocks noGrp="1"/>
          </p:cNvSpPr>
          <p:nvPr>
            <p:ph idx="1"/>
          </p:nvPr>
        </p:nvSpPr>
        <p:spPr/>
        <p:txBody>
          <a:bodyPr/>
          <a:lstStyle/>
          <a:p>
            <a:pPr>
              <a:defRPr sz="1800"/>
            </a:pPr>
            <a:r>
              <a:t>Ein Befall durch holzzerstörende Pilze oder Insekten kann sich durch Bohrlöcher, Holzmehl, lose Stellen oder dunkle Verfärbungen zeigen. Häufig steht dahinter eine anhaltende Holzfeuchte. Feuchte kann außerdem Verformungen, Durchbiegungen, Verdrehungen, aufgequollene Anschlüsse oder Feuchtespuren an Innenbekleidungen verursachen. Besonders aufmerksam sind Anschlüsse an Dachgauben und Dachflächenfenstern. Trockenrisse im Holz sind nicht automatisch ein statisches Problem, wenn sie lediglich oberflächlich sind. Breite Risse, klaffende Fugen oder verschobene Anschlüsse können dagegen auf Veränderungen der Lastabtragung hinweisen. Entscheidend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Schäden und ihre Hinweise</a:t>
            </a:r>
          </a:p>
        </p:txBody>
      </p:sp>
      <p:sp>
        <p:nvSpPr>
          <p:cNvPr id="3" name="Content Placeholder 2"/>
          <p:cNvSpPr>
            <a:spLocks noGrp="1"/>
          </p:cNvSpPr>
          <p:nvPr>
            <p:ph idx="1"/>
          </p:nvPr>
        </p:nvSpPr>
        <p:spPr/>
        <p:txBody>
          <a:bodyPr/>
          <a:lstStyle/>
          <a:p>
            <a:pPr>
              <a:defRPr sz="1800"/>
            </a:pPr>
            <a:r>
              <a:t>t deshalb nicht nur das einzelne Schadensbild, sondern dessen Auswirkung auf Tragfähigkeit und Gebrauchstauglichkeit der gesamten Konstruktion.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Frühere Eingriffe berücksichtigen</a:t>
            </a:r>
          </a:p>
        </p:txBody>
      </p:sp>
      <p:sp>
        <p:nvSpPr>
          <p:cNvPr id="3" name="Content Placeholder 2"/>
          <p:cNvSpPr>
            <a:spLocks noGrp="1"/>
          </p:cNvSpPr>
          <p:nvPr>
            <p:ph idx="1"/>
          </p:nvPr>
        </p:nvSpPr>
        <p:spPr/>
        <p:txBody>
          <a:bodyPr/>
          <a:lstStyle/>
          <a:p>
            <a:pPr>
              <a:defRPr sz="1800"/>
            </a:pPr>
            <a:r>
              <a:t>Ältere Gebäude können durch zurückliegende Arbeiten zusätzlich belastet sein. Dazu gehören herausgeschnittene Sparrenbereiche, unsachgemäße Durchdringungen, nicht dokumentierte Auflager und nachträglich eingebaute Gauben. Solche Veränderungen sind teilweise erst nach Öffnen der Bekleidung erkennbar. Auch die geplante Nutzung ist relevant: Eine neue Dämmung, zusätzliche Dachflächenfenster oder eine Änderung des Eindeckungsmaterials verändert die Anforderungen an die vorhandene Tragkonstruktion. Vor größeren Arbeiten sollte deshalb dokumentiert werden, welche Bauteile betroffen sind, welche Eingriffe bereits erfolgt sind und wie das Dachgeschos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Frühere Eingriffe berücksichtigen</a:t>
            </a:r>
          </a:p>
        </p:txBody>
      </p:sp>
      <p:sp>
        <p:nvSpPr>
          <p:cNvPr id="3" name="Content Placeholder 2"/>
          <p:cNvSpPr>
            <a:spLocks noGrp="1"/>
          </p:cNvSpPr>
          <p:nvPr>
            <p:ph idx="1"/>
          </p:nvPr>
        </p:nvSpPr>
        <p:spPr/>
        <p:txBody>
          <a:bodyPr/>
          <a:lstStyle/>
          <a:p>
            <a:pPr>
              <a:defRPr sz="1800"/>
            </a:pPr>
            <a:r>
              <a:t>s künftig genutzt werden soll.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Prüfung sinnvoll ist</a:t>
            </a:r>
          </a:p>
        </p:txBody>
      </p:sp>
      <p:sp>
        <p:nvSpPr>
          <p:cNvPr id="3" name="Content Placeholder 2"/>
          <p:cNvSpPr>
            <a:spLocks noGrp="1"/>
          </p:cNvSpPr>
          <p:nvPr>
            <p:ph idx="1"/>
          </p:nvPr>
        </p:nvSpPr>
        <p:spPr/>
        <p:txBody>
          <a:bodyPr/>
          <a:lstStyle/>
          <a:p>
            <a:pPr>
              <a:defRPr sz="1800"/>
            </a:pPr>
            <a:r>
              <a:t>Eine fachliche Prüfung ist besonders hilfreich, wenn sichtbare Holzschäden, Verfärbungen oder Holzmehl auftreten, Feuchte wiederkehrend sichtbar wird oder sich Hölzer verformen. Auch auffällige Schwingungen, unbekannte Eingriffe sowie geplante Dämm- oder Ausbauvorhaben sind gute Anlässe für eine Untersuchung. Vor Ort können Bauteilzustand, Holzfeuchte, Anschlüsse und konstruktive Zusammenhänge erfasst und sichtbare Befunde von vermuteten Ursachen abgegrenzt werden. Auf dieser Grundlage lässt sich entscheiden, ob einzelne Teile erhalten, ertüchtigt oder ersetzt werden sollten. Nicht jede Auffälligkeit erforderlich sofort einen Austausch, eine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Prüfung sinnvoll ist</a:t>
            </a:r>
          </a:p>
        </p:txBody>
      </p:sp>
      <p:sp>
        <p:nvSpPr>
          <p:cNvPr id="3" name="Content Placeholder 2"/>
          <p:cNvSpPr>
            <a:spLocks noGrp="1"/>
          </p:cNvSpPr>
          <p:nvPr>
            <p:ph idx="1"/>
          </p:nvPr>
        </p:nvSpPr>
        <p:spPr/>
        <p:txBody>
          <a:bodyPr/>
          <a:lstStyle/>
          <a:p>
            <a:pPr>
              <a:defRPr sz="1800"/>
            </a:pPr>
            <a:r>
              <a:t>belastbare Einordnung ist jedoch wichtiger als eine pauschale Einschätzung.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Befunde vorbereiten und Sanierung abstimmen</a:t>
            </a:r>
          </a:p>
        </p:txBody>
      </p:sp>
      <p:sp>
        <p:nvSpPr>
          <p:cNvPr id="3" name="Content Placeholder 2"/>
          <p:cNvSpPr>
            <a:spLocks noGrp="1"/>
          </p:cNvSpPr>
          <p:nvPr>
            <p:ph idx="1"/>
          </p:nvPr>
        </p:nvSpPr>
        <p:spPr/>
        <p:txBody>
          <a:bodyPr/>
          <a:lstStyle/>
          <a:p>
            <a:pPr>
              <a:defRPr sz="1800"/>
            </a:pPr>
            <a:r>
              <a:t>Für eine Beratung oder Angebotsanfrage lassen sich Beobachtungen strukturiert zusammenstellen: Wo liegt der betroffene Bereich, welche Symptome sind erkennbar, seit wann bestehen sie und hat sich ihr Umfang verändert? Hilfreich sind außerdem Angaben zu früheren Sanierungen, Einbauten oder Dachfenstern sowie zur geplanten Nutzung. Diese Informationen erleichtern die Beurteilung und verhindern, dass wesentliche Abhängigkeiten übersehen werden. Besonders wichtig ist der Zusammenhang von Tragkonstruktion, Eindeckung, Dämmung und Ausbau. Ergänzende Orientierung bietet der weiterführende Ratgeber zur Dachsanierung; bei der Vorbereitung der Kostenpl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Befunde vorbereiten und Sanierung abstimmen</a:t>
            </a:r>
          </a:p>
        </p:txBody>
      </p:sp>
      <p:sp>
        <p:nvSpPr>
          <p:cNvPr id="3" name="Content Placeholder 2"/>
          <p:cNvSpPr>
            <a:spLocks noGrp="1"/>
          </p:cNvSpPr>
          <p:nvPr>
            <p:ph idx="1"/>
          </p:nvPr>
        </p:nvSpPr>
        <p:spPr/>
        <p:txBody>
          <a:bodyPr/>
          <a:lstStyle/>
          <a:p>
            <a:pPr>
              <a:defRPr sz="1800"/>
            </a:pPr>
            <a:r>
              <a:t>anung helfen die Hinweise zu Dachsanierung-Kosten.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 prüfen: Holzbauteile erkennen und Schadensbilder einordnen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