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dachwerk.blogspot.com/2026/10/dachgaube-in-berlin-planen-baurecht.html" TargetMode="External"/><Relationship Id="rId3" Type="http://schemas.openxmlformats.org/officeDocument/2006/relationships/hyperlink" Target="https://holzundhaus.github.io/spreedachwerk/dateien/minimax-cb4448b22088c8e60b6dfed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 in Berlin planen: Baurecht, Konstruktion und Anschlüsse im Überblick · Erklärende Präsentation</a:t>
            </a:r>
          </a:p>
        </p:txBody>
      </p:sp>
      <p:sp>
        <p:nvSpPr>
          <p:cNvPr id="3" name="Content Placeholder 2"/>
          <p:cNvSpPr>
            <a:spLocks noGrp="1"/>
          </p:cNvSpPr>
          <p:nvPr>
            <p:ph idx="1"/>
          </p:nvPr>
        </p:nvSpPr>
        <p:spPr/>
        <p:txBody>
          <a:bodyPr/>
          <a:lstStyle/>
          <a:p>
            <a:r>
              <a:t>Überblick: Eine Dachgaube in Berlin verbindet baurechtliche Fragen mit handwerklichen Eingriffen in Dachstuhl, Dämmung und Eindeckung. Für die Planung ist deshalb entscheidend, das Vorhaben frühzeitig in drei Bereiche zu gliedern: die Genehmigungsart, die konstruktive Einbindung in den bestehenden Dachaufbau und die Anschlüsse zu Innenausbau und Hülle. Die folgenden Hinweise zeigen, welche Fragen vor der Beauftragung geklärt werden sollten und worauf bei der Abstimmung mit Bezirksamt und Fachbetrieb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Genehmigungsart kommt beim geplanten Vorhaben infrage?</a:t>
            </a:r>
          </a:p>
        </p:txBody>
      </p:sp>
      <p:sp>
        <p:nvSpPr>
          <p:cNvPr id="3" name="Content Placeholder 2"/>
          <p:cNvSpPr>
            <a:spLocks noGrp="1"/>
          </p:cNvSpPr>
          <p:nvPr>
            <p:ph idx="1"/>
          </p:nvPr>
        </p:nvSpPr>
        <p:spPr/>
        <p:txBody>
          <a:bodyPr/>
          <a:lstStyle/>
          <a:p>
            <a:pPr>
              <a:defRPr sz="1800"/>
            </a:pPr>
            <a:r>
              <a:t>Ob für eine Dachgaube in Berlin eine Baugenehmigung, eine Anzeige oder ein verfahrensfreies Vorhaben erforderlich ist, hängt vom konkreten Bauvorhaben und von den örtlichen Regelungen ab. Wichtig ist zunächst die Art der Gaube: Sattel-, Schlepp-, Flach- und Stellgauben unterscheiden sich in Höhe, Breite und Firstform und werden nicht einheitlich behandelt. Auch der Eingriff in die äußere Gestalt sowie die Lage im Bebauungsplan können eine Rolle spielen. Bei Berliner Altbauten können zusätzlich Denkmalschutz oder eine Erhaltungssatzung greifen. Eine belastbare Einordnung gehört daher in die frühe Abstimmung mit der Bauaufsicht. Allgemeine Orie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Genehmigungsart kommt beim geplanten Vorhaben infrage?</a:t>
            </a:r>
          </a:p>
        </p:txBody>
      </p:sp>
      <p:sp>
        <p:nvSpPr>
          <p:cNvPr id="3" name="Content Placeholder 2"/>
          <p:cNvSpPr>
            <a:spLocks noGrp="1"/>
          </p:cNvSpPr>
          <p:nvPr>
            <p:ph idx="1"/>
          </p:nvPr>
        </p:nvSpPr>
        <p:spPr/>
        <p:txBody>
          <a:bodyPr/>
          <a:lstStyle/>
          <a:p>
            <a:pPr>
              <a:defRPr sz="1800"/>
            </a:pPr>
            <a:r>
              <a:t>ntierung bietet der Beitrag Dachgaube in Berlin planen, die konkrete Einordnung bleibt aber objektbezogen.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der Eingriff in den Dachstuhl geprüft?</a:t>
            </a:r>
          </a:p>
        </p:txBody>
      </p:sp>
      <p:sp>
        <p:nvSpPr>
          <p:cNvPr id="3" name="Content Placeholder 2"/>
          <p:cNvSpPr>
            <a:spLocks noGrp="1"/>
          </p:cNvSpPr>
          <p:nvPr>
            <p:ph idx="1"/>
          </p:nvPr>
        </p:nvSpPr>
        <p:spPr/>
        <p:txBody>
          <a:bodyPr/>
          <a:lstStyle/>
          <a:p>
            <a:pPr>
              <a:defRPr sz="1800"/>
            </a:pPr>
            <a:r>
              <a:t>Eine Gaube ist kein einfacher Aufbau auf dem Dach, sondern ein Baukörper, der in die Dachfläche einschneidet. Für die Öffnung müssen in der Regel mehrere Sparren unterbrochen werden. Dadurch entsteht eine neue Lastenumlagerung, die über Wechsel, Pfosten oder Träger in die verbleibende Konstruktion geführt werden muss. Zu prüfen sind deshalb Achsmaß und Spannweite der betroffenen Sparren, vorhandene Auflager und Lastwege sowie der Zustand der Holzbauteile. Auch Verstärkungen oder neue Bauteile müssen in der Planung berücksichtigt werden. Vor einem Bauvertrag sollte geklärt sein, welche Holzbauteile betroffen sind und in welchem Zustand sie sic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der Eingriff in den Dachstuhl geprüft?</a:t>
            </a:r>
          </a:p>
        </p:txBody>
      </p:sp>
      <p:sp>
        <p:nvSpPr>
          <p:cNvPr id="3" name="Content Placeholder 2"/>
          <p:cNvSpPr>
            <a:spLocks noGrp="1"/>
          </p:cNvSpPr>
          <p:nvPr>
            <p:ph idx="1"/>
          </p:nvPr>
        </p:nvSpPr>
        <p:spPr/>
        <p:txBody>
          <a:bodyPr/>
          <a:lstStyle/>
          <a:p>
            <a:pPr>
              <a:defRPr sz="1800"/>
            </a:pPr>
            <a:r>
              <a:t>h befinden. Die Details zur Gaubenplanung zeigen, welche technischen Angaben für diese Abstimmung vorbereitet werden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Anschlüsse müssen Dämmung und Eindeckung erfüllen?</a:t>
            </a:r>
          </a:p>
        </p:txBody>
      </p:sp>
      <p:sp>
        <p:nvSpPr>
          <p:cNvPr id="3" name="Content Placeholder 2"/>
          <p:cNvSpPr>
            <a:spLocks noGrp="1"/>
          </p:cNvSpPr>
          <p:nvPr>
            <p:ph idx="1"/>
          </p:nvPr>
        </p:nvSpPr>
        <p:spPr/>
        <p:txBody>
          <a:bodyPr/>
          <a:lstStyle/>
          <a:p>
            <a:pPr>
              <a:defRPr sz="1800"/>
            </a:pPr>
            <a:r>
              <a:t>Der Übergang zwischen Gaube und bestehender Dachfläche besteht aus mehreren Schichten. Dazu gehören Eindeckrahmen, Unterdach, Konterlattung, Dachlatten und Eindeckung. Material, Format und Verlegebild der vorhandenen Dachziegel beeinflussen, welche Anschlüsse fachlich passen. Auch die Dämmung, Dampfbremse und Innenbekleidung müssen aufeinander abgestimmt sein, damit Wärmebrücken, Luftundichtigkeiten oder Tauwasserprobleme vermieden werden. Vorhandene Lüftungsöffnungen sowie Trauf- und Firstdetails sind nach der Maßnahme auf ihre Funktion zu prüfen. Materialwechsel zwischen Bestand und Gaube sind nicht nur in der Fläche, sondern auch an den 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Anschlüsse müssen Dämmung und Eindeckung erfüllen?</a:t>
            </a:r>
          </a:p>
        </p:txBody>
      </p:sp>
      <p:sp>
        <p:nvSpPr>
          <p:cNvPr id="3" name="Content Placeholder 2"/>
          <p:cNvSpPr>
            <a:spLocks noGrp="1"/>
          </p:cNvSpPr>
          <p:nvPr>
            <p:ph idx="1"/>
          </p:nvPr>
        </p:nvSpPr>
        <p:spPr/>
        <p:txBody>
          <a:bodyPr/>
          <a:lstStyle/>
          <a:p>
            <a:pPr>
              <a:defRPr sz="1800"/>
            </a:pPr>
            <a:r>
              <a:t>schlüssen zu betrachten. Deshalb sollten Dämmstoff, Aufbau und Anschlussdetails früh festgelegt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Gaubenwände und Innenausbau geplant?</a:t>
            </a:r>
          </a:p>
        </p:txBody>
      </p:sp>
      <p:sp>
        <p:nvSpPr>
          <p:cNvPr id="3" name="Content Placeholder 2"/>
          <p:cNvSpPr>
            <a:spLocks noGrp="1"/>
          </p:cNvSpPr>
          <p:nvPr>
            <p:ph idx="1"/>
          </p:nvPr>
        </p:nvSpPr>
        <p:spPr/>
        <p:txBody>
          <a:bodyPr/>
          <a:lstStyle/>
          <a:p>
            <a:pPr>
              <a:defRPr sz="1800"/>
            </a:pPr>
            <a:r>
              <a:t>Die Außenwände der Gaube übernehmen im oberen Bereich Windlasten und im unteren Bereich die Last der Brüstung. Gaubenstiel, Brüstung und Wangen benötigen deshalb eine klare konstruktive und bauphysikalische Lösung. Für den Innenausbau sind die Innenwände, der Übergang zu den Dachschrägen und die bestehende Innenbekleidung zu berücksichtigen. Sinnvoll ist eine Leistungsbeschreibung, die Arbeiten für die Gaube von rein gestalterischen Raumgestaltungen abgrenzt. Das schafft Übersicht bei Angebot und Ausführung und erleichtert die spätere Prüfung energetischer Maßnahmen. Eine Förderung kann an eine jeweilige energetische Einzelmaßnahme gebunden 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Gaubenwände und Innenausbau geplant?</a:t>
            </a:r>
          </a:p>
        </p:txBody>
      </p:sp>
      <p:sp>
        <p:nvSpPr>
          <p:cNvPr id="3" name="Content Placeholder 2"/>
          <p:cNvSpPr>
            <a:spLocks noGrp="1"/>
          </p:cNvSpPr>
          <p:nvPr>
            <p:ph idx="1"/>
          </p:nvPr>
        </p:nvSpPr>
        <p:spPr/>
        <p:txBody>
          <a:bodyPr/>
          <a:lstStyle/>
          <a:p>
            <a:pPr>
              <a:defRPr sz="1800"/>
            </a:pPr>
            <a:r>
              <a:t>ein; der Ausbau als Ganzes ist damit nicht automatisch eingeschlossen.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sollte vor dem Angebot schriftlich geklärt sein?</a:t>
            </a:r>
          </a:p>
        </p:txBody>
      </p:sp>
      <p:sp>
        <p:nvSpPr>
          <p:cNvPr id="3" name="Content Placeholder 2"/>
          <p:cNvSpPr>
            <a:spLocks noGrp="1"/>
          </p:cNvSpPr>
          <p:nvPr>
            <p:ph idx="1"/>
          </p:nvPr>
        </p:nvSpPr>
        <p:spPr/>
        <p:txBody>
          <a:bodyPr/>
          <a:lstStyle/>
          <a:p>
            <a:pPr>
              <a:defRPr sz="1800"/>
            </a:pPr>
            <a:r>
              <a:t>Vor der Beauftragung lassen sich die zentralen Punkte in einer kurzen Checkliste bündeln: Liegt das Gebäude in einem Bebauungsplan, einer Erhaltungssatzung oder einem Denkmalensemble? Ist das Vorhaben genehmigungspflichtig, anzeigepflichtig oder verfahrensfrei? Welche Sparren sind betroffen? Wie werden Gaube, Dämmung, Unterdach und Eindeckung angeschlossen? Welche Innenausbauarbeiten gehören zur Gaube? Mit diesen Angaben lassen sich Fachbetrieb und Bauaufsicht gezielt abstimmen. Erst danach sollten Detailplanung, Angebote und Bauvertrag aufeinander abgestimmt werden. Das verhindert, dass baurechtliche, konstruktive und bauphysikalische Fragen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sollte vor dem Angebot schriftlich geklärt sein?</a:t>
            </a:r>
          </a:p>
        </p:txBody>
      </p:sp>
      <p:sp>
        <p:nvSpPr>
          <p:cNvPr id="3" name="Content Placeholder 2"/>
          <p:cNvSpPr>
            <a:spLocks noGrp="1"/>
          </p:cNvSpPr>
          <p:nvPr>
            <p:ph idx="1"/>
          </p:nvPr>
        </p:nvSpPr>
        <p:spPr/>
        <p:txBody>
          <a:bodyPr/>
          <a:lstStyle/>
          <a:p>
            <a:pPr>
              <a:defRPr sz="1800"/>
            </a:pPr>
            <a:r>
              <a:t> erst während der Ausführung aufeinandertreffen.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Dachgaube in Berlin planen: Baurecht, Konstruktion und Anschlüsse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