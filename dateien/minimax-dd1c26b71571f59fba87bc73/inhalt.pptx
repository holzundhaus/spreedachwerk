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dachwerk.blogspot.com/2026/10/flachdach-und-steildach-in-berlin.html" TargetMode="External"/><Relationship Id="rId3" Type="http://schemas.openxmlformats.org/officeDocument/2006/relationships/hyperlink" Target="https://holzundhaus.github.io/spreedachwerk/dateien/minimax-dd1c26b71571f59fba87bc7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Flachdach und Steildach in Berlin: Aufbau, Abdichtung und typische Schadensbilder · Erklärende Präsentation</a:t>
            </a:r>
          </a:p>
        </p:txBody>
      </p:sp>
      <p:sp>
        <p:nvSpPr>
          <p:cNvPr id="3" name="Content Placeholder 2"/>
          <p:cNvSpPr>
            <a:spLocks noGrp="1"/>
          </p:cNvSpPr>
          <p:nvPr>
            <p:ph idx="1"/>
          </p:nvPr>
        </p:nvSpPr>
        <p:spPr/>
        <p:txBody>
          <a:bodyPr/>
          <a:lstStyle/>
          <a:p>
            <a:r>
              <a:t>Überblick: Bei einem Dach in Berlin reicht der Blick auf die sichtbaren Schäden rarely aus, um den Zustand zu beurteilen. Entscheidend ist, ob ein Steildach oder ein Flachdach vorliegt, wie es genutzt wird und welche Anschlüsse, Abläufe und Sicherungen vorhanden sind. Dieser Ratgeber strukturiert die ersten Schritte: Merkmale erfassen, Hinweise richtig gewichten, Schäden einordnen und Fragen für eine fachliche Prüfung vorbereiten. Er ersetzt keine Vor-Ort-Beurteilung, kann aber dabei helfen, eine Anfrage klarer und vollständiger zu machen.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Dachform als ersten Schritt bestimmen</a:t>
            </a:r>
          </a:p>
        </p:txBody>
      </p:sp>
      <p:sp>
        <p:nvSpPr>
          <p:cNvPr id="3" name="Content Placeholder 2"/>
          <p:cNvSpPr>
            <a:spLocks noGrp="1"/>
          </p:cNvSpPr>
          <p:nvPr>
            <p:ph idx="1"/>
          </p:nvPr>
        </p:nvSpPr>
        <p:spPr/>
        <p:txBody>
          <a:bodyPr/>
          <a:lstStyle/>
          <a:p>
            <a:pPr>
              <a:defRPr sz="1800"/>
            </a:pPr>
            <a:r>
              <a:t>Beginnen Sie mit der Zuordnung des Dachs. Beim Steildach gehören Eindeckung, Unterdach, Lattung und Eindeckdetails wie Traufe, First, Kehle und Ortgang zu den zentralen Bauteilen. Das Flachdach wird dagegen vor allem durch Abdichtung, Anschlüsse an aufgehende Bauteile und die Entwässerung geprägt. Beide Formen können an einem Gebäude vorkommen, etwa wenn ein ausgebautes Steildachgeschoss an eine Garage oder einen Erker anschließt. Hilfreich ist eine einfache Skizze oder Fotodokumentation, die Dachflächen, Gauben, Aufbauten, Lichtkuppeln und Fallleitungen sichtbar macht. Die Übersicht zu „Flachdach und Steildach in Berlin“ kann als ergänzende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Dachform als ersten Schritt bestimmen</a:t>
            </a:r>
          </a:p>
        </p:txBody>
      </p:sp>
      <p:sp>
        <p:nvSpPr>
          <p:cNvPr id="3" name="Content Placeholder 2"/>
          <p:cNvSpPr>
            <a:spLocks noGrp="1"/>
          </p:cNvSpPr>
          <p:nvPr>
            <p:ph idx="1"/>
          </p:nvPr>
        </p:nvSpPr>
        <p:spPr/>
        <p:txBody>
          <a:bodyPr/>
          <a:lstStyle/>
          <a:p>
            <a:pPr>
              <a:defRPr sz="1800"/>
            </a:pPr>
            <a:r>
              <a:t>Einordnung dienen, ersetzt aber nicht die Prüfung des konkreten Objekts.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Beobachtungen vor Ort notieren</a:t>
            </a:r>
          </a:p>
        </p:txBody>
      </p:sp>
      <p:sp>
        <p:nvSpPr>
          <p:cNvPr id="3" name="Content Placeholder 2"/>
          <p:cNvSpPr>
            <a:spLocks noGrp="1"/>
          </p:cNvSpPr>
          <p:nvPr>
            <p:ph idx="1"/>
          </p:nvPr>
        </p:nvSpPr>
        <p:spPr/>
        <p:txBody>
          <a:bodyPr/>
          <a:lstStyle/>
          <a:p>
            <a:pPr>
              <a:defRPr sz="1800"/>
            </a:pPr>
            <a:r>
              <a:t>Notieren Sie getrennt nach Dachbereich, was tatsächlich zu sehen ist. Am Steildach können verschobene oder gesprungene Ziegel, Feuchteflecken an der Schräge oder Spuren an Sparren und Latten auf eine frühere Belastung hinweisen. Am Flachdach sind Wasserpfützen, Blasen, Risse, offene Nähte, Feuchte unter der Decke oder Bewuchs durch Wildkräuter und Moos typische Beobachtungen. Wichtig ist die zeitliche Einordnung: Bleiben Pfützen länger als etwa 24 bis 48 Stunden stehen, sollte das Gefälle, die Entwässerung und die Höhe des Notüberlaufs geprüft werden. Ein einzelner Fleck beweist nicht, wo die Ursache liegt. Entscheidend sind wiederkehrende 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Beobachtungen vor Ort notieren</a:t>
            </a:r>
          </a:p>
        </p:txBody>
      </p:sp>
      <p:sp>
        <p:nvSpPr>
          <p:cNvPr id="3" name="Content Placeholder 2"/>
          <p:cNvSpPr>
            <a:spLocks noGrp="1"/>
          </p:cNvSpPr>
          <p:nvPr>
            <p:ph idx="1"/>
          </p:nvPr>
        </p:nvSpPr>
        <p:spPr/>
        <p:txBody>
          <a:bodyPr/>
          <a:lstStyle/>
          <a:p>
            <a:pPr>
              <a:defRPr sz="1800"/>
            </a:pPr>
            <a:r>
              <a:t>uchte, sichtbare Verformungen oder Hinweise auf Schimmel.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Steildach: Feuchte und Anschlüsse zusammendenken</a:t>
            </a:r>
          </a:p>
        </p:txBody>
      </p:sp>
      <p:sp>
        <p:nvSpPr>
          <p:cNvPr id="3" name="Content Placeholder 2"/>
          <p:cNvSpPr>
            <a:spLocks noGrp="1"/>
          </p:cNvSpPr>
          <p:nvPr>
            <p:ph idx="1"/>
          </p:nvPr>
        </p:nvSpPr>
        <p:spPr/>
        <p:txBody>
          <a:bodyPr/>
          <a:lstStyle/>
          <a:p>
            <a:pPr>
              <a:defRPr sz="1800"/>
            </a:pPr>
            <a:r>
              <a:t>Beim Steildach muss nicht nur die sichtbare Eindeckung betrachtet werden. Das Unterdach bildet eine zweite Schutzebene, wenn Wasser oder Flugschnee unter die Eindeckung gelangt. Besonders relevant sind deshalb Ortgang, Traufe, Kehle und Durchdringungen für Schornstein, Dachflächenfenster, Gauben oder Solaranlagen. Feuchte an der Innenseite kann verschiedene Ursachen haben, etwa eine defekte Unterspannbahn, eine undichte Anschlussverblechung oder einen ungünstigen Dachaufbau. Prüfen Sie daher, ob Schadstellen räumlich zu einem bestimmten Detail passen oder unabhängig voneinander auftreten. Diese räumliche Zusammenhang herzustellen ist ein wich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Steildach: Feuchte und Anschlüsse zusammendenken</a:t>
            </a:r>
          </a:p>
        </p:txBody>
      </p:sp>
      <p:sp>
        <p:nvSpPr>
          <p:cNvPr id="3" name="Content Placeholder 2"/>
          <p:cNvSpPr>
            <a:spLocks noGrp="1"/>
          </p:cNvSpPr>
          <p:nvPr>
            <p:ph idx="1"/>
          </p:nvPr>
        </p:nvSpPr>
        <p:spPr/>
        <p:txBody>
          <a:bodyPr/>
          <a:lstStyle/>
          <a:p>
            <a:pPr>
              <a:defRPr sz="1800"/>
            </a:pPr>
            <a:r>
              <a:t>tiger Unterschied zwischen einer groben Sichtprüfung und einer belastbaren Zustandsbewertung.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Flachdach: Abdichtung, Wasserwege und Zugang</a:t>
            </a:r>
          </a:p>
        </p:txBody>
      </p:sp>
      <p:sp>
        <p:nvSpPr>
          <p:cNvPr id="3" name="Content Placeholder 2"/>
          <p:cNvSpPr>
            <a:spLocks noGrp="1"/>
          </p:cNvSpPr>
          <p:nvPr>
            <p:ph idx="1"/>
          </p:nvPr>
        </p:nvSpPr>
        <p:spPr/>
        <p:txBody>
          <a:bodyPr/>
          <a:lstStyle/>
          <a:p>
            <a:pPr>
              <a:defRPr sz="1800"/>
            </a:pPr>
            <a:r>
              <a:t>Beim Flachdach steht die Abdichtung im Mittelpunkt. Ihre Beanspruchung hängt unter anderem von Nutzung, Alter, UV-Belastung und den angrenzenden Details ab. Stöße, Ecken, Hochzüge und Durchdringungen sind dabei ebenso wichtig wie die Fläche selbst. Zu einer sachgerechten Beurteilung gehören deshalb die Kontrolle von Attika, Wandhochzug, Lichtkuppel, Dachausstieg, Lüftern, Gully, Fallrohr und Notüberlauf. Auch die Entwässerung muss für die spätere Nutzung erreichbar bleiben. Bei einer Terrasse oder Photovoltaikanlage kommen zusätzliche Anforderungen an Zugang und Absturzsicherung hinzu. Diese Punkte sollten vor einer Planung geklärt werden, 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Flachdach: Abdichtung, Wasserwege und Zugang</a:t>
            </a:r>
          </a:p>
        </p:txBody>
      </p:sp>
      <p:sp>
        <p:nvSpPr>
          <p:cNvPr id="3" name="Content Placeholder 2"/>
          <p:cNvSpPr>
            <a:spLocks noGrp="1"/>
          </p:cNvSpPr>
          <p:nvPr>
            <p:ph idx="1"/>
          </p:nvPr>
        </p:nvSpPr>
        <p:spPr/>
        <p:txBody>
          <a:bodyPr/>
          <a:lstStyle/>
          <a:p>
            <a:pPr>
              <a:defRPr sz="1800"/>
            </a:pPr>
            <a:r>
              <a:t>mit Oberflächenschutz und Sicherheit nicht nachträglich zu ungeplanten Konflikten führen.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Anfrage vorbereiten</a:t>
            </a:r>
          </a:p>
        </p:txBody>
      </p:sp>
      <p:sp>
        <p:nvSpPr>
          <p:cNvPr id="3" name="Content Placeholder 2"/>
          <p:cNvSpPr>
            <a:spLocks noGrp="1"/>
          </p:cNvSpPr>
          <p:nvPr>
            <p:ph idx="1"/>
          </p:nvPr>
        </p:nvSpPr>
        <p:spPr/>
        <p:txBody>
          <a:bodyPr/>
          <a:lstStyle/>
          <a:p>
            <a:pPr>
              <a:defRPr sz="1800"/>
            </a:pPr>
            <a:r>
              <a:t>Fassen Sie vor der Beauftragung eine fachliche Prüfung die wichtigsten Angaben zusammen: Dachform, sichtbare Schadstellen, bisherige Nutzung, bekannte Sanierungen, vorhandene Anschlüsse und Entwässerung sowie Auffälligkeiten im Innenraum. Ergänzen Sie Fotos und eine einfache Dachskizze, ohne daraus bereits eine fertige Diagnose abzuleiten. Bitten Sie ausdrücklich um eine gemeinsame Betrachtung von Zustand, Nutzung und Anschlüssen. Bei wiederkehrender Feuchte, sichtbaren Verformungen, Schimmelhinweisen oder länger stehendem Wasser ist eine Prüfung angezeigt. Für weitere Auswahlkriterien rund um Sanierung, Dämmung und Ausbau bietet der „weiterf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Anfrage vorbereiten</a:t>
            </a:r>
          </a:p>
        </p:txBody>
      </p:sp>
      <p:sp>
        <p:nvSpPr>
          <p:cNvPr id="3" name="Content Placeholder 2"/>
          <p:cNvSpPr>
            <a:spLocks noGrp="1"/>
          </p:cNvSpPr>
          <p:nvPr>
            <p:ph idx="1"/>
          </p:nvPr>
        </p:nvSpPr>
        <p:spPr/>
        <p:txBody>
          <a:bodyPr/>
          <a:lstStyle/>
          <a:p>
            <a:pPr>
              <a:defRPr sz="1800"/>
            </a:pPr>
            <a:r>
              <a:t>ührende Dach-Ratgeber“ eine passende Ergänzung zur Berliner Ausgangslage.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Flachdach und Steildach in Berlin: Aufbau, Abdichtung und typische Schadensbilder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